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1"/>
  </p:sldMasterIdLst>
  <p:sldIdLst>
    <p:sldId id="256" r:id="rId2"/>
    <p:sldId id="257" r:id="rId3"/>
    <p:sldId id="258" r:id="rId4"/>
    <p:sldId id="259" r:id="rId5"/>
    <p:sldId id="260" r:id="rId6"/>
    <p:sldId id="271" r:id="rId7"/>
    <p:sldId id="261" r:id="rId8"/>
    <p:sldId id="262" r:id="rId9"/>
    <p:sldId id="263" r:id="rId10"/>
    <p:sldId id="266" r:id="rId11"/>
    <p:sldId id="270" r:id="rId12"/>
    <p:sldId id="265" r:id="rId13"/>
    <p:sldId id="269" r:id="rId14"/>
    <p:sldId id="264" r:id="rId15"/>
    <p:sldId id="267" r:id="rId16"/>
    <p:sldId id="268" r:id="rId17"/>
    <p:sldId id="274"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4A67-D848-115F-7069-27931EA99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8569A6-2C0C-0236-EBDE-4419771D81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B4EAB1-2A87-57F4-3F4B-7CD056EA8C60}"/>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5" name="Footer Placeholder 4">
            <a:extLst>
              <a:ext uri="{FF2B5EF4-FFF2-40B4-BE49-F238E27FC236}">
                <a16:creationId xmlns:a16="http://schemas.microsoft.com/office/drawing/2014/main" id="{251A588B-3AF2-E2B2-143A-3E327A1C64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78CA1E-C1D6-B272-142D-1E65D6D96B9B}"/>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207462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2782-DEDB-1169-5A35-8A716AC209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ECB801-3E03-BF78-2A49-2AB501B5FA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BE631E-0E7A-49C1-2260-2A05CF25E956}"/>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5" name="Footer Placeholder 4">
            <a:extLst>
              <a:ext uri="{FF2B5EF4-FFF2-40B4-BE49-F238E27FC236}">
                <a16:creationId xmlns:a16="http://schemas.microsoft.com/office/drawing/2014/main" id="{2A717819-F7EB-B066-E33A-2211B087B9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165889-C694-E53D-FEC6-4E973B742E54}"/>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2058370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6D838-E0F6-2250-E1A7-24209F8A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A77D048-0146-CA2D-259F-330CD5C8AA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41AD9-A8DB-3534-ADEB-B4FA78AA36D9}"/>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5" name="Footer Placeholder 4">
            <a:extLst>
              <a:ext uri="{FF2B5EF4-FFF2-40B4-BE49-F238E27FC236}">
                <a16:creationId xmlns:a16="http://schemas.microsoft.com/office/drawing/2014/main" id="{59B9F934-6F44-D4BC-08B7-48EB450386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5C529-AC99-0827-6D89-F79C76BE7854}"/>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2492947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C5A4D-3D57-946C-1F39-D7C7BF2B1B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7E42B4-98A7-21D5-D5BC-39769B4A35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B9C8554-6FC9-E4F6-9D04-CAAF8A942D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1F3E49-8EEC-6FF8-CAC8-804964ABFA4F}"/>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6" name="Footer Placeholder 5">
            <a:extLst>
              <a:ext uri="{FF2B5EF4-FFF2-40B4-BE49-F238E27FC236}">
                <a16:creationId xmlns:a16="http://schemas.microsoft.com/office/drawing/2014/main" id="{A34EC3EF-0BF8-2FAB-0774-BB4281E06C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019E18-EBA0-2E0E-23A0-73817A52DFA8}"/>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245376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2B34B-FF19-8435-C092-3046CE2FD0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7B1F19-A70D-B636-B053-1F8B359AE8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1EDA16-C34F-08DE-D841-F9CA3A6269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0A1235-D493-92AC-BBBF-08A24F7A9A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6C5708-D4ED-057C-A8E9-2453D4B72E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817EFB-C279-316A-0F69-079176221B93}"/>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8" name="Footer Placeholder 7">
            <a:extLst>
              <a:ext uri="{FF2B5EF4-FFF2-40B4-BE49-F238E27FC236}">
                <a16:creationId xmlns:a16="http://schemas.microsoft.com/office/drawing/2014/main" id="{1AEB70B8-88D7-396E-FCEE-7053A10151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693EC8-CC3F-302A-DD76-FFCE78122663}"/>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2490954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C046-78CB-AD46-4253-85C38FC7F7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957D81-354B-4334-3A4E-01486B1468B6}"/>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4" name="Footer Placeholder 3">
            <a:extLst>
              <a:ext uri="{FF2B5EF4-FFF2-40B4-BE49-F238E27FC236}">
                <a16:creationId xmlns:a16="http://schemas.microsoft.com/office/drawing/2014/main" id="{00D21EEE-1284-3C40-8BCE-0712FEA961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DD864D-A269-45FF-0753-B1577E648C4C}"/>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1846910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6750C2-9E15-F7AD-8CD9-C5E11B0C4EBE}"/>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3" name="Footer Placeholder 2">
            <a:extLst>
              <a:ext uri="{FF2B5EF4-FFF2-40B4-BE49-F238E27FC236}">
                <a16:creationId xmlns:a16="http://schemas.microsoft.com/office/drawing/2014/main" id="{67197341-AEF0-E9D2-0CBD-A6BDA002FC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A3A742-E740-F08D-211E-AFA57AFF674F}"/>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1606698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7403B-F6B4-0440-191B-73A34C3C88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B0261D-C40E-B13F-3F53-3A76A89322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931199-30D3-7100-A16F-24597F681C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04A7F0-3EFD-E34E-D1D8-C14ED8D118EE}"/>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6" name="Footer Placeholder 5">
            <a:extLst>
              <a:ext uri="{FF2B5EF4-FFF2-40B4-BE49-F238E27FC236}">
                <a16:creationId xmlns:a16="http://schemas.microsoft.com/office/drawing/2014/main" id="{53F0B646-1848-A74E-F9F3-1E7854A245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719C47-CA68-09E2-6A01-59D5BA6BB478}"/>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946281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9AAF9-6FCA-5141-8033-403FF7E3A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5B5116-A724-3B0F-7AD9-6023C91576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2B9478-4787-76FB-3B14-04463C936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0BBEA0-2B5C-2E30-F623-BBF65E80CBF2}"/>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6" name="Footer Placeholder 5">
            <a:extLst>
              <a:ext uri="{FF2B5EF4-FFF2-40B4-BE49-F238E27FC236}">
                <a16:creationId xmlns:a16="http://schemas.microsoft.com/office/drawing/2014/main" id="{46E7A703-BC6A-D0FF-DCE0-3EE2BD65DE5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D3D20D7-EBD1-D073-FDBE-D399F9276E33}"/>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1167051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A0BB-D6B6-DA84-D82A-EEF7D5E30B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44205D-9506-72E0-5F8A-5E3120068E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E547FE-37A0-0AD7-9818-893DC044E874}"/>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5" name="Footer Placeholder 4">
            <a:extLst>
              <a:ext uri="{FF2B5EF4-FFF2-40B4-BE49-F238E27FC236}">
                <a16:creationId xmlns:a16="http://schemas.microsoft.com/office/drawing/2014/main" id="{6388492D-BFD6-71FC-40C8-697E8D92D0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E4669B-44B4-B8DF-14B6-1AD988D53C5B}"/>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823309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20AB46-3A2F-B46F-3606-8DFF771511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9A0761-D3A6-23A0-EAF8-224D02D896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FD64D-582B-C7D2-61F9-7A66CC0EA2E0}"/>
              </a:ext>
            </a:extLst>
          </p:cNvPr>
          <p:cNvSpPr>
            <a:spLocks noGrp="1"/>
          </p:cNvSpPr>
          <p:nvPr>
            <p:ph type="dt" sz="half" idx="10"/>
          </p:nvPr>
        </p:nvSpPr>
        <p:spPr/>
        <p:txBody>
          <a:bodyPr/>
          <a:lstStyle/>
          <a:p>
            <a:fld id="{7A69DE47-BD6F-4BFA-9A05-21E36E722279}" type="datetimeFigureOut">
              <a:rPr lang="en-IN" smtClean="0"/>
              <a:t>30-09-2024</a:t>
            </a:fld>
            <a:endParaRPr lang="en-IN"/>
          </a:p>
        </p:txBody>
      </p:sp>
      <p:sp>
        <p:nvSpPr>
          <p:cNvPr id="5" name="Footer Placeholder 4">
            <a:extLst>
              <a:ext uri="{FF2B5EF4-FFF2-40B4-BE49-F238E27FC236}">
                <a16:creationId xmlns:a16="http://schemas.microsoft.com/office/drawing/2014/main" id="{21A98127-6E87-9D4F-98F6-1E287E7895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5A274-ACC1-B6FF-EF46-163650DE0D3F}"/>
              </a:ext>
            </a:extLst>
          </p:cNvPr>
          <p:cNvSpPr>
            <a:spLocks noGrp="1"/>
          </p:cNvSpPr>
          <p:nvPr>
            <p:ph type="sldNum" sz="quarter" idx="12"/>
          </p:nvPr>
        </p:nvSpPr>
        <p:spPr/>
        <p:txBody>
          <a:bodyPr/>
          <a:lstStyle/>
          <a:p>
            <a:fld id="{789FA6D3-6489-4CFB-8253-8437E00025D7}" type="slidenum">
              <a:rPr lang="en-IN" smtClean="0"/>
              <a:t>‹#›</a:t>
            </a:fld>
            <a:endParaRPr lang="en-IN"/>
          </a:p>
        </p:txBody>
      </p:sp>
    </p:spTree>
    <p:extLst>
      <p:ext uri="{BB962C8B-B14F-4D97-AF65-F5344CB8AC3E}">
        <p14:creationId xmlns:p14="http://schemas.microsoft.com/office/powerpoint/2010/main" val="2626691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E7192D-CF7E-E2E5-D8B8-1DA558AAD7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6DC252-7D69-CCB0-79E7-2011DDA2D7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0E3B8B-F57B-1962-7377-C0F4424D3D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69DE47-BD6F-4BFA-9A05-21E36E722279}" type="datetimeFigureOut">
              <a:rPr lang="en-IN" smtClean="0"/>
              <a:t>30-09-2024</a:t>
            </a:fld>
            <a:endParaRPr lang="en-IN"/>
          </a:p>
        </p:txBody>
      </p:sp>
      <p:sp>
        <p:nvSpPr>
          <p:cNvPr id="5" name="Footer Placeholder 4">
            <a:extLst>
              <a:ext uri="{FF2B5EF4-FFF2-40B4-BE49-F238E27FC236}">
                <a16:creationId xmlns:a16="http://schemas.microsoft.com/office/drawing/2014/main" id="{858D931E-E091-4F00-41FA-A55DF141EF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675C86-3BC0-F8D2-7F73-2DA519CAF9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9FA6D3-6489-4CFB-8253-8437E00025D7}" type="slidenum">
              <a:rPr lang="en-IN" smtClean="0"/>
              <a:t>‹#›</a:t>
            </a:fld>
            <a:endParaRPr lang="en-IN"/>
          </a:p>
        </p:txBody>
      </p:sp>
    </p:spTree>
    <p:extLst>
      <p:ext uri="{BB962C8B-B14F-4D97-AF65-F5344CB8AC3E}">
        <p14:creationId xmlns:p14="http://schemas.microsoft.com/office/powerpoint/2010/main" val="3139507637"/>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image" Target="../media/image17.jpg"/><Relationship Id="rId7" Type="http://schemas.openxmlformats.org/officeDocument/2006/relationships/image" Target="../media/image21.jpg"/><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59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64C17-DEC7-D50E-DC84-E14E28FEF03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093B99-E87B-5174-BFF0-C4715D957461}"/>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Kerala floods of 2018 were one of the most devastating disasters in the state's history, triggered by excessive monsoon rainfall. All 14 districts were affected, with the worst-hit areas being Idukki, Wayanad, Alappuzha, and Ernakulam. The state received 116% more rainfall than usual, causing major rivers like </a:t>
            </a:r>
            <a:r>
              <a:rPr lang="en-US" dirty="0" err="1">
                <a:latin typeface="Times New Roman" panose="02020603050405020304" pitchFamily="18" charset="0"/>
                <a:cs typeface="Times New Roman" panose="02020603050405020304" pitchFamily="18" charset="0"/>
              </a:rPr>
              <a:t>Periyar</a:t>
            </a:r>
            <a:r>
              <a:rPr lang="en-US" dirty="0">
                <a:latin typeface="Times New Roman" panose="02020603050405020304" pitchFamily="18" charset="0"/>
                <a:cs typeface="Times New Roman" panose="02020603050405020304" pitchFamily="18" charset="0"/>
              </a:rPr>
              <a:t> and Pampa to overflow, leading to widespread flooding. The floods impacted over 5.4 million people, making it Kerala’s worst flood in nearly a century. The disaster claimed over 483 lives, displaced more than 1.4 million people, and caused an estimated ₹40,000 crore ($5.8 billion) in economic losses, severely damaging homes and infrastructure.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6313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4ECEF-9DF2-FC47-E2B2-3E6EC8A2D827}"/>
              </a:ext>
            </a:extLst>
          </p:cNvPr>
          <p:cNvSpPr>
            <a:spLocks noGrp="1"/>
          </p:cNvSpPr>
          <p:nvPr>
            <p:ph type="title"/>
          </p:nvPr>
        </p:nvSpPr>
        <p:spPr>
          <a:xfrm>
            <a:off x="435078" y="116534"/>
            <a:ext cx="11255477" cy="706582"/>
          </a:xfrm>
        </p:spPr>
        <p:txBody>
          <a:bodyPr>
            <a:normAutofit/>
          </a:bodyPr>
          <a:lstStyle/>
          <a:p>
            <a:pPr algn="ctr"/>
            <a:r>
              <a:rPr lang="en-US" b="1" dirty="0"/>
              <a:t>GEOGRAPHICAL VIEW </a:t>
            </a:r>
            <a:endParaRPr lang="en-IN" b="1" dirty="0"/>
          </a:p>
        </p:txBody>
      </p:sp>
      <p:pic>
        <p:nvPicPr>
          <p:cNvPr id="10" name="Content Placeholder 9">
            <a:extLst>
              <a:ext uri="{FF2B5EF4-FFF2-40B4-BE49-F238E27FC236}">
                <a16:creationId xmlns:a16="http://schemas.microsoft.com/office/drawing/2014/main" id="{458A2315-C728-6436-D6AC-EBDB268B4A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9426" y="1179871"/>
            <a:ext cx="4829761" cy="4978706"/>
          </a:xfrm>
          <a:prstGeom prst="rect">
            <a:avLst/>
          </a:prstGeom>
          <a:ln>
            <a:noFill/>
          </a:ln>
          <a:effectLst>
            <a:outerShdw blurRad="190500" algn="tl" rotWithShape="0">
              <a:srgbClr val="000000">
                <a:alpha val="70000"/>
              </a:srgbClr>
            </a:outerShdw>
          </a:effectLst>
        </p:spPr>
      </p:pic>
      <p:pic>
        <p:nvPicPr>
          <p:cNvPr id="4" name="Picture 3">
            <a:extLst>
              <a:ext uri="{FF2B5EF4-FFF2-40B4-BE49-F238E27FC236}">
                <a16:creationId xmlns:a16="http://schemas.microsoft.com/office/drawing/2014/main" id="{246561F6-F515-7F1B-2682-4A81237760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6271" y="1179871"/>
            <a:ext cx="4249658" cy="486328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92398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5E27-3FFD-7ECE-BEA2-ED0792ECCBAC}"/>
              </a:ext>
            </a:extLst>
          </p:cNvPr>
          <p:cNvSpPr>
            <a:spLocks noGrp="1"/>
          </p:cNvSpPr>
          <p:nvPr>
            <p:ph type="title"/>
          </p:nvPr>
        </p:nvSpPr>
        <p:spPr/>
        <p:txBody>
          <a:bodyPr>
            <a:normAutofit/>
          </a:bodyPr>
          <a:lstStyle/>
          <a:p>
            <a:pPr algn="ctr"/>
            <a:r>
              <a:rPr lang="en-IN" b="1" dirty="0"/>
              <a:t>TIME LINE OF FLOODS</a:t>
            </a:r>
            <a:br>
              <a:rPr lang="en-IN" dirty="0"/>
            </a:br>
            <a:endParaRPr lang="en-IN" dirty="0"/>
          </a:p>
        </p:txBody>
      </p:sp>
      <p:pic>
        <p:nvPicPr>
          <p:cNvPr id="5" name="Content Placeholder 4">
            <a:extLst>
              <a:ext uri="{FF2B5EF4-FFF2-40B4-BE49-F238E27FC236}">
                <a16:creationId xmlns:a16="http://schemas.microsoft.com/office/drawing/2014/main" id="{83E74A91-0728-76BB-6C04-1E20DABDB0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5346" y="1361210"/>
            <a:ext cx="4551218" cy="4857317"/>
          </a:xfrm>
        </p:spPr>
      </p:pic>
      <p:sp>
        <p:nvSpPr>
          <p:cNvPr id="7" name="TextBox 6">
            <a:extLst>
              <a:ext uri="{FF2B5EF4-FFF2-40B4-BE49-F238E27FC236}">
                <a16:creationId xmlns:a16="http://schemas.microsoft.com/office/drawing/2014/main" id="{6D862ABD-7483-B105-F322-13B12B236F4E}"/>
              </a:ext>
            </a:extLst>
          </p:cNvPr>
          <p:cNvSpPr txBox="1"/>
          <p:nvPr/>
        </p:nvSpPr>
        <p:spPr>
          <a:xfrm>
            <a:off x="6274030" y="1407757"/>
            <a:ext cx="5446916" cy="5093702"/>
          </a:xfrm>
          <a:prstGeom prst="rect">
            <a:avLst/>
          </a:prstGeom>
          <a:noFill/>
        </p:spPr>
        <p:txBody>
          <a:bodyPr wrap="square">
            <a:spAutoFit/>
          </a:bodyPr>
          <a:lstStyle/>
          <a:p>
            <a:pPr marL="0" indent="0" algn="l">
              <a:lnSpc>
                <a:spcPts val="2550"/>
              </a:lnSpc>
              <a:buNone/>
            </a:pPr>
            <a:r>
              <a:rPr lang="en-US" sz="2400" b="1" dirty="0">
                <a:latin typeface="Barlow" pitchFamily="34" charset="0"/>
                <a:ea typeface="Barlow" pitchFamily="34" charset="-122"/>
                <a:cs typeface="Barlow" pitchFamily="34" charset="-120"/>
              </a:rPr>
              <a:t>August 8-15</a:t>
            </a:r>
          </a:p>
          <a:p>
            <a:pPr>
              <a:lnSpc>
                <a:spcPts val="2550"/>
              </a:lnSpc>
            </a:pPr>
            <a:r>
              <a:rPr lang="en-US" sz="2000" dirty="0">
                <a:latin typeface="Barlow" pitchFamily="34" charset="0"/>
                <a:ea typeface="Barlow" pitchFamily="34" charset="-122"/>
                <a:cs typeface="Barlow" pitchFamily="34" charset="-120"/>
              </a:rPr>
              <a:t>Heavy rainfall and landslides triggered widespread flooding across Kerala.</a:t>
            </a:r>
            <a:endParaRPr lang="en-US" sz="2000" dirty="0"/>
          </a:p>
          <a:p>
            <a:pPr marL="0" indent="0" algn="l">
              <a:lnSpc>
                <a:spcPts val="2550"/>
              </a:lnSpc>
              <a:buNone/>
            </a:pPr>
            <a:endParaRPr lang="en-US" sz="2400" b="1" dirty="0"/>
          </a:p>
          <a:p>
            <a:pPr>
              <a:lnSpc>
                <a:spcPts val="2550"/>
              </a:lnSpc>
            </a:pPr>
            <a:r>
              <a:rPr lang="en-US" sz="2400" b="1" dirty="0">
                <a:latin typeface="Barlow" pitchFamily="34" charset="0"/>
                <a:ea typeface="Barlow" pitchFamily="34" charset="-122"/>
                <a:cs typeface="Barlow" pitchFamily="34" charset="-120"/>
              </a:rPr>
              <a:t>August 16-20</a:t>
            </a:r>
            <a:endParaRPr lang="en-US" sz="2400" b="1" dirty="0">
              <a:latin typeface="Barlow" pitchFamily="34" charset="0"/>
            </a:endParaRPr>
          </a:p>
          <a:p>
            <a:pPr>
              <a:lnSpc>
                <a:spcPts val="2550"/>
              </a:lnSpc>
            </a:pPr>
            <a:r>
              <a:rPr lang="en-US" sz="2000" dirty="0">
                <a:latin typeface="Barlow" pitchFamily="34" charset="0"/>
                <a:ea typeface="Barlow" pitchFamily="34" charset="-122"/>
                <a:cs typeface="Barlow" pitchFamily="34" charset="-120"/>
              </a:rPr>
              <a:t>The situation worsened as more dams were forced to release water due to high reservoir levels.</a:t>
            </a:r>
          </a:p>
          <a:p>
            <a:pPr>
              <a:lnSpc>
                <a:spcPts val="2550"/>
              </a:lnSpc>
            </a:pPr>
            <a:endParaRPr lang="en-US" sz="2400" dirty="0">
              <a:latin typeface="Barlow" pitchFamily="34" charset="0"/>
            </a:endParaRPr>
          </a:p>
          <a:p>
            <a:pPr>
              <a:lnSpc>
                <a:spcPts val="2550"/>
              </a:lnSpc>
            </a:pPr>
            <a:r>
              <a:rPr lang="en-US" sz="2400" b="1" dirty="0">
                <a:latin typeface="Barlow" pitchFamily="34" charset="0"/>
                <a:ea typeface="Barlow" pitchFamily="34" charset="-122"/>
                <a:cs typeface="Barlow" pitchFamily="34" charset="-120"/>
              </a:rPr>
              <a:t>August 21-29</a:t>
            </a:r>
            <a:endParaRPr lang="en-US" sz="2400" b="1" dirty="0"/>
          </a:p>
          <a:p>
            <a:pPr>
              <a:lnSpc>
                <a:spcPts val="2550"/>
              </a:lnSpc>
            </a:pPr>
            <a:r>
              <a:rPr lang="en-US" sz="2000" dirty="0">
                <a:latin typeface="Barlow" pitchFamily="34" charset="0"/>
                <a:ea typeface="Barlow" pitchFamily="34" charset="-122"/>
                <a:cs typeface="Barlow" pitchFamily="34" charset="-120"/>
              </a:rPr>
              <a:t>The floods began to recede, but the aftermath was devastating, with widespread damage and displacement.</a:t>
            </a:r>
            <a:endParaRPr lang="en-US" sz="2000" dirty="0"/>
          </a:p>
          <a:p>
            <a:pPr>
              <a:lnSpc>
                <a:spcPts val="2550"/>
              </a:lnSpc>
            </a:pPr>
            <a:endParaRPr lang="en-US" sz="2400" b="1" dirty="0"/>
          </a:p>
          <a:p>
            <a:pPr marL="0" indent="0" algn="l">
              <a:lnSpc>
                <a:spcPts val="2550"/>
              </a:lnSpc>
              <a:buNone/>
            </a:pPr>
            <a:endParaRPr lang="en-US" sz="2400" b="1" dirty="0"/>
          </a:p>
        </p:txBody>
      </p:sp>
    </p:spTree>
    <p:extLst>
      <p:ext uri="{BB962C8B-B14F-4D97-AF65-F5344CB8AC3E}">
        <p14:creationId xmlns:p14="http://schemas.microsoft.com/office/powerpoint/2010/main" val="221002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09B4-6B68-3F0D-EDFD-F36C58A3B7CA}"/>
              </a:ext>
            </a:extLst>
          </p:cNvPr>
          <p:cNvSpPr>
            <a:spLocks noGrp="1"/>
          </p:cNvSpPr>
          <p:nvPr>
            <p:ph type="title"/>
          </p:nvPr>
        </p:nvSpPr>
        <p:spPr>
          <a:xfrm>
            <a:off x="216310" y="318319"/>
            <a:ext cx="7040767" cy="1280890"/>
          </a:xfrm>
        </p:spPr>
        <p:txBody>
          <a:bodyPr>
            <a:normAutofit/>
          </a:bodyPr>
          <a:lstStyle/>
          <a:p>
            <a:r>
              <a:rPr lang="en-IN" b="1" dirty="0"/>
              <a:t>CAUSES OF FLOODS(</a:t>
            </a:r>
            <a:r>
              <a:rPr lang="en-IN" sz="4000" b="1" dirty="0"/>
              <a:t>Natural</a:t>
            </a:r>
            <a:r>
              <a:rPr lang="en-IN" b="1" dirty="0"/>
              <a:t>)</a:t>
            </a:r>
          </a:p>
        </p:txBody>
      </p:sp>
      <p:sp>
        <p:nvSpPr>
          <p:cNvPr id="3" name="Content Placeholder 2">
            <a:extLst>
              <a:ext uri="{FF2B5EF4-FFF2-40B4-BE49-F238E27FC236}">
                <a16:creationId xmlns:a16="http://schemas.microsoft.com/office/drawing/2014/main" id="{263BC73D-6982-D4DE-872A-7F6414F0E069}"/>
              </a:ext>
            </a:extLst>
          </p:cNvPr>
          <p:cNvSpPr>
            <a:spLocks noGrp="1"/>
          </p:cNvSpPr>
          <p:nvPr>
            <p:ph idx="1"/>
          </p:nvPr>
        </p:nvSpPr>
        <p:spPr>
          <a:xfrm>
            <a:off x="838200" y="1690687"/>
            <a:ext cx="6339840" cy="4802187"/>
          </a:xfrm>
        </p:spPr>
        <p:txBody>
          <a:bodyPr>
            <a:normAutofit/>
          </a:bodyPr>
          <a:lstStyle/>
          <a:p>
            <a:pPr marL="0" indent="0">
              <a:buNone/>
            </a:pPr>
            <a:r>
              <a:rPr lang="en-US" sz="2800" b="1" dirty="0">
                <a:latin typeface="Gelasio" pitchFamily="34" charset="0"/>
                <a:ea typeface="Gelasio" pitchFamily="34" charset="-122"/>
                <a:cs typeface="Gelasio" pitchFamily="34" charset="-120"/>
              </a:rPr>
              <a:t>Monsoon Rainfall</a:t>
            </a:r>
            <a:endParaRPr lang="en-US" sz="2800" b="1" dirty="0"/>
          </a:p>
          <a:p>
            <a:pPr marL="0" indent="0">
              <a:buNone/>
            </a:pPr>
            <a:r>
              <a:rPr lang="en-US" sz="2400" dirty="0">
                <a:latin typeface="Gelasio" pitchFamily="34" charset="0"/>
                <a:ea typeface="Gelasio" pitchFamily="34" charset="-122"/>
                <a:cs typeface="Gelasio" pitchFamily="34" charset="-120"/>
              </a:rPr>
              <a:t>The 2018 monsoon season witnessed record-breaking rainfall, exceeding the average by several times.</a:t>
            </a:r>
            <a:endParaRPr lang="en-US" sz="2400" dirty="0"/>
          </a:p>
          <a:p>
            <a:pPr marL="0" indent="0">
              <a:buNone/>
            </a:pPr>
            <a:r>
              <a:rPr lang="en-US" sz="2800" b="1" dirty="0">
                <a:latin typeface="Gelasio" pitchFamily="34" charset="0"/>
                <a:ea typeface="Gelasio" pitchFamily="34" charset="-122"/>
                <a:cs typeface="Gelasio" pitchFamily="34" charset="-120"/>
              </a:rPr>
              <a:t>Dam Releases</a:t>
            </a:r>
            <a:endParaRPr lang="en-US" sz="2800" b="1" dirty="0"/>
          </a:p>
          <a:p>
            <a:pPr marL="0" indent="0">
              <a:buNone/>
            </a:pPr>
            <a:r>
              <a:rPr lang="en-US" sz="2400" dirty="0">
                <a:latin typeface="Gelasio" pitchFamily="34" charset="0"/>
                <a:ea typeface="Gelasio" pitchFamily="34" charset="-122"/>
                <a:cs typeface="Gelasio" pitchFamily="34" charset="-120"/>
              </a:rPr>
              <a:t>Dams were forced to release excess water, contributing to the flooding of downstream areas.</a:t>
            </a:r>
            <a:endParaRPr lang="en-US" sz="2400" dirty="0"/>
          </a:p>
          <a:p>
            <a:pPr marL="0" indent="0">
              <a:buNone/>
            </a:pPr>
            <a:r>
              <a:rPr lang="en-US" sz="2800" b="1" dirty="0">
                <a:latin typeface="Gelasio" pitchFamily="34" charset="0"/>
                <a:ea typeface="Gelasio" pitchFamily="34" charset="-122"/>
                <a:cs typeface="Gelasio" pitchFamily="34" charset="-120"/>
              </a:rPr>
              <a:t>Landslides</a:t>
            </a:r>
            <a:endParaRPr lang="en-US" sz="2800" b="1" dirty="0"/>
          </a:p>
          <a:p>
            <a:pPr marL="0" indent="0">
              <a:buNone/>
            </a:pPr>
            <a:r>
              <a:rPr lang="en-US" sz="2400" dirty="0">
                <a:latin typeface="Gelasio" pitchFamily="34" charset="0"/>
                <a:ea typeface="Gelasio" pitchFamily="34" charset="-122"/>
                <a:cs typeface="Gelasio" pitchFamily="34" charset="-120"/>
              </a:rPr>
              <a:t>Heavy rainfall triggered landslides, blocking roads and exacerbating the flood situation.</a:t>
            </a:r>
            <a:endParaRPr lang="en-US" sz="2400" dirty="0"/>
          </a:p>
          <a:p>
            <a:pPr marL="0" indent="0">
              <a:buNone/>
            </a:pPr>
            <a:endParaRPr lang="en-IN" dirty="0"/>
          </a:p>
        </p:txBody>
      </p:sp>
      <p:pic>
        <p:nvPicPr>
          <p:cNvPr id="5" name="Picture 4">
            <a:extLst>
              <a:ext uri="{FF2B5EF4-FFF2-40B4-BE49-F238E27FC236}">
                <a16:creationId xmlns:a16="http://schemas.microsoft.com/office/drawing/2014/main" id="{2CA20572-B45F-2D48-CBB2-9C8AFE527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8040" y="420225"/>
            <a:ext cx="4587774" cy="607264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86929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ndslide Danger After Kerala's Floods ...">
            <a:extLst>
              <a:ext uri="{FF2B5EF4-FFF2-40B4-BE49-F238E27FC236}">
                <a16:creationId xmlns:a16="http://schemas.microsoft.com/office/drawing/2014/main" id="{0429BA4A-0760-2275-647E-F90DC4D2E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4581" y="3913240"/>
            <a:ext cx="4537584" cy="25007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548F5FE-3FAD-5958-0E1F-8CEEAB3F03B1}"/>
              </a:ext>
            </a:extLst>
          </p:cNvPr>
          <p:cNvPicPr>
            <a:picLocks noChangeAspect="1"/>
          </p:cNvPicPr>
          <p:nvPr/>
        </p:nvPicPr>
        <p:blipFill>
          <a:blip r:embed="rId3"/>
          <a:stretch>
            <a:fillRect/>
          </a:stretch>
        </p:blipFill>
        <p:spPr>
          <a:xfrm>
            <a:off x="1268360" y="1020405"/>
            <a:ext cx="4139382" cy="2328402"/>
          </a:xfrm>
          <a:prstGeom prst="rect">
            <a:avLst/>
          </a:prstGeom>
        </p:spPr>
      </p:pic>
      <p:pic>
        <p:nvPicPr>
          <p:cNvPr id="5" name="Picture 4">
            <a:extLst>
              <a:ext uri="{FF2B5EF4-FFF2-40B4-BE49-F238E27FC236}">
                <a16:creationId xmlns:a16="http://schemas.microsoft.com/office/drawing/2014/main" id="{7233F839-3E47-5736-9BB6-543F8FF54F5A}"/>
              </a:ext>
            </a:extLst>
          </p:cNvPr>
          <p:cNvPicPr>
            <a:picLocks noChangeAspect="1"/>
          </p:cNvPicPr>
          <p:nvPr/>
        </p:nvPicPr>
        <p:blipFill>
          <a:blip r:embed="rId4"/>
          <a:stretch>
            <a:fillRect/>
          </a:stretch>
        </p:blipFill>
        <p:spPr>
          <a:xfrm>
            <a:off x="6508955" y="1020404"/>
            <a:ext cx="4213120" cy="2328403"/>
          </a:xfrm>
          <a:prstGeom prst="rect">
            <a:avLst/>
          </a:prstGeom>
        </p:spPr>
      </p:pic>
    </p:spTree>
    <p:extLst>
      <p:ext uri="{BB962C8B-B14F-4D97-AF65-F5344CB8AC3E}">
        <p14:creationId xmlns:p14="http://schemas.microsoft.com/office/powerpoint/2010/main" val="2603537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3062-BB58-3EBD-BACD-DD02CAB468BC}"/>
              </a:ext>
            </a:extLst>
          </p:cNvPr>
          <p:cNvSpPr>
            <a:spLocks noGrp="1"/>
          </p:cNvSpPr>
          <p:nvPr>
            <p:ph type="title"/>
          </p:nvPr>
        </p:nvSpPr>
        <p:spPr>
          <a:xfrm>
            <a:off x="759541" y="384790"/>
            <a:ext cx="10515600" cy="1325563"/>
          </a:xfrm>
        </p:spPr>
        <p:txBody>
          <a:bodyPr>
            <a:normAutofit/>
          </a:bodyPr>
          <a:lstStyle/>
          <a:p>
            <a:r>
              <a:rPr lang="en-US" sz="4400" dirty="0">
                <a:solidFill>
                  <a:srgbClr val="484237"/>
                </a:solidFill>
                <a:latin typeface="Gelasio" pitchFamily="34" charset="0"/>
                <a:ea typeface="Gelasio" pitchFamily="34" charset="-122"/>
                <a:cs typeface="Gelasio" pitchFamily="34" charset="-120"/>
              </a:rPr>
              <a:t>Causes of the Floods (Man-Made)</a:t>
            </a:r>
            <a:br>
              <a:rPr lang="en-US" sz="4400" dirty="0"/>
            </a:br>
            <a:endParaRPr lang="en-IN" dirty="0"/>
          </a:p>
        </p:txBody>
      </p:sp>
      <p:sp>
        <p:nvSpPr>
          <p:cNvPr id="3" name="Content Placeholder 2">
            <a:extLst>
              <a:ext uri="{FF2B5EF4-FFF2-40B4-BE49-F238E27FC236}">
                <a16:creationId xmlns:a16="http://schemas.microsoft.com/office/drawing/2014/main" id="{8EE0C7C2-01FC-1804-2DCA-E789B338356C}"/>
              </a:ext>
            </a:extLst>
          </p:cNvPr>
          <p:cNvSpPr>
            <a:spLocks noGrp="1"/>
          </p:cNvSpPr>
          <p:nvPr>
            <p:ph idx="1"/>
          </p:nvPr>
        </p:nvSpPr>
        <p:spPr>
          <a:xfrm>
            <a:off x="838200" y="1371600"/>
            <a:ext cx="6156960" cy="4968240"/>
          </a:xfrm>
        </p:spPr>
        <p:txBody>
          <a:bodyPr>
            <a:normAutofit/>
          </a:bodyPr>
          <a:lstStyle/>
          <a:p>
            <a:pPr marL="0" indent="0">
              <a:buNone/>
            </a:pPr>
            <a:r>
              <a:rPr lang="en-US" sz="2800" b="1" dirty="0">
                <a:latin typeface="Gelasio" pitchFamily="34" charset="0"/>
                <a:ea typeface="Gelasio" pitchFamily="34" charset="-122"/>
                <a:cs typeface="Gelasio" pitchFamily="34" charset="-120"/>
              </a:rPr>
              <a:t>Urbanization</a:t>
            </a:r>
            <a:endParaRPr lang="en-US" sz="2800" b="1" dirty="0"/>
          </a:p>
          <a:p>
            <a:pPr marL="0" indent="0">
              <a:buNone/>
            </a:pPr>
            <a:r>
              <a:rPr lang="en-US" sz="2000" dirty="0">
                <a:latin typeface="Gelasio" pitchFamily="34" charset="0"/>
                <a:ea typeface="Gelasio" pitchFamily="34" charset="-122"/>
                <a:cs typeface="Gelasio" pitchFamily="34" charset="-120"/>
              </a:rPr>
              <a:t>Unplanned urbanization has led to the encroachment of natural water bodies, reducing the drainage capacity of the land.</a:t>
            </a:r>
            <a:endParaRPr lang="en-US" sz="2000" dirty="0"/>
          </a:p>
          <a:p>
            <a:pPr marL="0" indent="0">
              <a:buNone/>
            </a:pPr>
            <a:endParaRPr lang="en-US" sz="2800" b="1" dirty="0">
              <a:latin typeface="Gelasio" pitchFamily="34" charset="0"/>
              <a:ea typeface="Gelasio" pitchFamily="34" charset="-122"/>
              <a:cs typeface="Gelasio" pitchFamily="34" charset="-120"/>
            </a:endParaRPr>
          </a:p>
          <a:p>
            <a:pPr marL="0" indent="0">
              <a:buNone/>
            </a:pPr>
            <a:r>
              <a:rPr lang="en-US" sz="2800" b="1" dirty="0">
                <a:latin typeface="Gelasio" pitchFamily="34" charset="0"/>
                <a:ea typeface="Gelasio" pitchFamily="34" charset="-122"/>
                <a:cs typeface="Gelasio" pitchFamily="34" charset="-120"/>
              </a:rPr>
              <a:t>Deforestation</a:t>
            </a:r>
            <a:endParaRPr lang="en-US" sz="2800" b="1" dirty="0"/>
          </a:p>
          <a:p>
            <a:pPr marL="0" indent="0">
              <a:buNone/>
            </a:pPr>
            <a:r>
              <a:rPr lang="en-US" sz="2000" dirty="0">
                <a:latin typeface="Gelasio" pitchFamily="34" charset="0"/>
                <a:ea typeface="Gelasio" pitchFamily="34" charset="-122"/>
                <a:cs typeface="Gelasio" pitchFamily="34" charset="-120"/>
              </a:rPr>
              <a:t>Loss of forest cover has diminished the land's ability to absorb water, increasing the risk of flooding.</a:t>
            </a:r>
            <a:endParaRPr lang="en-US" sz="2000" dirty="0"/>
          </a:p>
          <a:p>
            <a:pPr marL="0" indent="0">
              <a:buNone/>
            </a:pPr>
            <a:endParaRPr lang="en-US" sz="2800" b="1" dirty="0">
              <a:latin typeface="Gelasio" pitchFamily="34" charset="0"/>
              <a:ea typeface="Gelasio" pitchFamily="34" charset="-122"/>
              <a:cs typeface="Gelasio" pitchFamily="34" charset="-120"/>
            </a:endParaRPr>
          </a:p>
          <a:p>
            <a:pPr marL="0" indent="0">
              <a:buNone/>
            </a:pPr>
            <a:r>
              <a:rPr lang="en-US" sz="2800" b="1" dirty="0">
                <a:latin typeface="Gelasio" pitchFamily="34" charset="0"/>
                <a:ea typeface="Gelasio" pitchFamily="34" charset="-122"/>
                <a:cs typeface="Gelasio" pitchFamily="34" charset="-120"/>
              </a:rPr>
              <a:t>Infrastructure Planning</a:t>
            </a:r>
            <a:endParaRPr lang="en-US" sz="2800" b="1" dirty="0"/>
          </a:p>
          <a:p>
            <a:pPr marL="0" indent="0">
              <a:buNone/>
            </a:pPr>
            <a:r>
              <a:rPr lang="en-US" sz="2000" dirty="0">
                <a:latin typeface="Gelasio" pitchFamily="34" charset="0"/>
                <a:ea typeface="Gelasio" pitchFamily="34" charset="-122"/>
                <a:cs typeface="Gelasio" pitchFamily="34" charset="-120"/>
              </a:rPr>
              <a:t>Poor infrastructure planning and inadequate drainage systems have contributed to the flood's severity.</a:t>
            </a:r>
            <a:endParaRPr lang="en-US" sz="2000" dirty="0"/>
          </a:p>
          <a:p>
            <a:pPr marL="0" indent="0">
              <a:buNone/>
            </a:pPr>
            <a:endParaRPr lang="en-IN" dirty="0"/>
          </a:p>
        </p:txBody>
      </p:sp>
      <p:pic>
        <p:nvPicPr>
          <p:cNvPr id="4" name="Picture 3">
            <a:extLst>
              <a:ext uri="{FF2B5EF4-FFF2-40B4-BE49-F238E27FC236}">
                <a16:creationId xmlns:a16="http://schemas.microsoft.com/office/drawing/2014/main" id="{6A9ED769-33D3-8088-C7E9-E115C2ADE728}"/>
              </a:ext>
            </a:extLst>
          </p:cNvPr>
          <p:cNvPicPr>
            <a:picLocks noChangeAspect="1"/>
          </p:cNvPicPr>
          <p:nvPr/>
        </p:nvPicPr>
        <p:blipFill>
          <a:blip r:embed="rId2"/>
          <a:stretch>
            <a:fillRect/>
          </a:stretch>
        </p:blipFill>
        <p:spPr>
          <a:xfrm>
            <a:off x="7374195" y="1710353"/>
            <a:ext cx="4462616" cy="395748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60958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7DD08-952E-F940-5BCD-93C1DD869DE6}"/>
              </a:ext>
            </a:extLst>
          </p:cNvPr>
          <p:cNvSpPr>
            <a:spLocks noGrp="1"/>
          </p:cNvSpPr>
          <p:nvPr>
            <p:ph type="title"/>
          </p:nvPr>
        </p:nvSpPr>
        <p:spPr/>
        <p:txBody>
          <a:bodyPr>
            <a:normAutofit/>
          </a:bodyPr>
          <a:lstStyle/>
          <a:p>
            <a:r>
              <a:rPr lang="en-US" sz="4400" b="1" dirty="0">
                <a:solidFill>
                  <a:srgbClr val="484237"/>
                </a:solidFill>
                <a:latin typeface="Gelasio" pitchFamily="34" charset="0"/>
                <a:ea typeface="Gelasio" pitchFamily="34" charset="-122"/>
                <a:cs typeface="Gelasio" pitchFamily="34" charset="-120"/>
              </a:rPr>
              <a:t>Rainfall Statistics</a:t>
            </a:r>
            <a:br>
              <a:rPr lang="en-US" sz="4400" dirty="0"/>
            </a:br>
            <a:endParaRPr lang="en-IN" dirty="0"/>
          </a:p>
        </p:txBody>
      </p:sp>
      <p:sp>
        <p:nvSpPr>
          <p:cNvPr id="3" name="Content Placeholder 2">
            <a:extLst>
              <a:ext uri="{FF2B5EF4-FFF2-40B4-BE49-F238E27FC236}">
                <a16:creationId xmlns:a16="http://schemas.microsoft.com/office/drawing/2014/main" id="{F8624F50-CB56-DEC1-D857-8AC6D75E0D8A}"/>
              </a:ext>
            </a:extLst>
          </p:cNvPr>
          <p:cNvSpPr>
            <a:spLocks noGrp="1"/>
          </p:cNvSpPr>
          <p:nvPr>
            <p:ph idx="1"/>
          </p:nvPr>
        </p:nvSpPr>
        <p:spPr>
          <a:xfrm>
            <a:off x="311727" y="1690688"/>
            <a:ext cx="6463146" cy="4486276"/>
          </a:xfrm>
        </p:spPr>
        <p:txBody>
          <a:bodyPr/>
          <a:lstStyle/>
          <a:p>
            <a:pPr marL="0" indent="0">
              <a:buNone/>
            </a:pPr>
            <a:r>
              <a:rPr lang="en-US" sz="1600" dirty="0"/>
              <a:t>         </a:t>
            </a:r>
          </a:p>
        </p:txBody>
      </p:sp>
      <p:graphicFrame>
        <p:nvGraphicFramePr>
          <p:cNvPr id="4" name="Table 3">
            <a:extLst>
              <a:ext uri="{FF2B5EF4-FFF2-40B4-BE49-F238E27FC236}">
                <a16:creationId xmlns:a16="http://schemas.microsoft.com/office/drawing/2014/main" id="{91701905-15B6-D737-2930-551DC3F0313B}"/>
              </a:ext>
            </a:extLst>
          </p:cNvPr>
          <p:cNvGraphicFramePr>
            <a:graphicFrameLocks noGrp="1"/>
          </p:cNvGraphicFramePr>
          <p:nvPr>
            <p:extLst>
              <p:ext uri="{D42A27DB-BD31-4B8C-83A1-F6EECF244321}">
                <p14:modId xmlns:p14="http://schemas.microsoft.com/office/powerpoint/2010/main" val="1374424498"/>
              </p:ext>
            </p:extLst>
          </p:nvPr>
        </p:nvGraphicFramePr>
        <p:xfrm>
          <a:off x="1215736" y="1517074"/>
          <a:ext cx="9434946" cy="1325564"/>
        </p:xfrm>
        <a:graphic>
          <a:graphicData uri="http://schemas.openxmlformats.org/drawingml/2006/table">
            <a:tbl>
              <a:tblPr firstRow="1" bandRow="1">
                <a:tableStyleId>{5C22544A-7EE6-4342-B048-85BDC9FD1C3A}</a:tableStyleId>
              </a:tblPr>
              <a:tblGrid>
                <a:gridCol w="3144982">
                  <a:extLst>
                    <a:ext uri="{9D8B030D-6E8A-4147-A177-3AD203B41FA5}">
                      <a16:colId xmlns:a16="http://schemas.microsoft.com/office/drawing/2014/main" val="1239420897"/>
                    </a:ext>
                  </a:extLst>
                </a:gridCol>
                <a:gridCol w="3144982">
                  <a:extLst>
                    <a:ext uri="{9D8B030D-6E8A-4147-A177-3AD203B41FA5}">
                      <a16:colId xmlns:a16="http://schemas.microsoft.com/office/drawing/2014/main" val="2292807985"/>
                    </a:ext>
                  </a:extLst>
                </a:gridCol>
                <a:gridCol w="3144982">
                  <a:extLst>
                    <a:ext uri="{9D8B030D-6E8A-4147-A177-3AD203B41FA5}">
                      <a16:colId xmlns:a16="http://schemas.microsoft.com/office/drawing/2014/main" val="1520127186"/>
                    </a:ext>
                  </a:extLst>
                </a:gridCol>
              </a:tblGrid>
              <a:tr h="748523">
                <a:tc>
                  <a:txBody>
                    <a:bodyPr/>
                    <a:lstStyle/>
                    <a:p>
                      <a:pPr algn="ctr"/>
                      <a:r>
                        <a:rPr lang="en-US" sz="2400" dirty="0">
                          <a:solidFill>
                            <a:schemeClr val="tx1">
                              <a:lumMod val="95000"/>
                              <a:lumOff val="5000"/>
                            </a:schemeClr>
                          </a:solidFill>
                          <a:latin typeface="Gelasio" pitchFamily="34" charset="0"/>
                          <a:cs typeface="Gelasio" pitchFamily="34" charset="-120"/>
                        </a:rPr>
                        <a:t>Year</a:t>
                      </a:r>
                      <a:r>
                        <a:rPr lang="en-US" sz="1600" dirty="0"/>
                        <a:t> </a:t>
                      </a:r>
                      <a:endParaRPr lang="en-IN" sz="1600" dirty="0"/>
                    </a:p>
                  </a:txBody>
                  <a:tcPr/>
                </a:tc>
                <a:tc>
                  <a:txBody>
                    <a:bodyPr/>
                    <a:lstStyle/>
                    <a:p>
                      <a:pPr algn="ctr"/>
                      <a:r>
                        <a:rPr lang="en-US" sz="2000" dirty="0">
                          <a:solidFill>
                            <a:schemeClr val="tx1">
                              <a:lumMod val="95000"/>
                              <a:lumOff val="5000"/>
                            </a:schemeClr>
                          </a:solidFill>
                          <a:latin typeface="Gelasio" pitchFamily="34" charset="0"/>
                          <a:ea typeface="Gelasio" pitchFamily="34" charset="-122"/>
                          <a:cs typeface="Gelasio" pitchFamily="34" charset="-120"/>
                        </a:rPr>
                        <a:t>Average Rainfall (mm)</a:t>
                      </a:r>
                      <a:endParaRPr lang="en-IN" sz="2000" dirty="0">
                        <a:solidFill>
                          <a:schemeClr val="tx1">
                            <a:lumMod val="95000"/>
                            <a:lumOff val="5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lumMod val="95000"/>
                              <a:lumOff val="5000"/>
                            </a:schemeClr>
                          </a:solidFill>
                          <a:latin typeface="Gelasio" pitchFamily="34" charset="0"/>
                          <a:ea typeface="Gelasio" pitchFamily="34" charset="-122"/>
                          <a:cs typeface="Gelasio" pitchFamily="34" charset="-120"/>
                        </a:rPr>
                        <a:t>Actual Rainfall (mm)</a:t>
                      </a:r>
                    </a:p>
                    <a:p>
                      <a:endParaRPr lang="en-IN" dirty="0"/>
                    </a:p>
                  </a:txBody>
                  <a:tcPr/>
                </a:tc>
                <a:extLst>
                  <a:ext uri="{0D108BD9-81ED-4DB2-BD59-A6C34878D82A}">
                    <a16:rowId xmlns:a16="http://schemas.microsoft.com/office/drawing/2014/main" val="1534723746"/>
                  </a:ext>
                </a:extLst>
              </a:tr>
              <a:tr h="577041">
                <a:tc>
                  <a:txBody>
                    <a:bodyPr/>
                    <a:lstStyle/>
                    <a:p>
                      <a:pPr algn="ctr"/>
                      <a:r>
                        <a:rPr lang="en-US" dirty="0"/>
                        <a:t>2018</a:t>
                      </a:r>
                      <a:endParaRPr lang="en-IN" dirty="0"/>
                    </a:p>
                  </a:txBody>
                  <a:tcPr/>
                </a:tc>
                <a:tc>
                  <a:txBody>
                    <a:bodyPr/>
                    <a:lstStyle/>
                    <a:p>
                      <a:pPr algn="ctr"/>
                      <a:r>
                        <a:rPr lang="en-US" dirty="0"/>
                        <a:t>2500</a:t>
                      </a:r>
                      <a:endParaRPr lang="en-IN" dirty="0"/>
                    </a:p>
                  </a:txBody>
                  <a:tcPr/>
                </a:tc>
                <a:tc>
                  <a:txBody>
                    <a:bodyPr/>
                    <a:lstStyle/>
                    <a:p>
                      <a:pPr algn="ctr"/>
                      <a:r>
                        <a:rPr lang="en-US" dirty="0"/>
                        <a:t>3500+ </a:t>
                      </a:r>
                      <a:endParaRPr lang="en-IN" dirty="0"/>
                    </a:p>
                  </a:txBody>
                  <a:tcPr/>
                </a:tc>
                <a:extLst>
                  <a:ext uri="{0D108BD9-81ED-4DB2-BD59-A6C34878D82A}">
                    <a16:rowId xmlns:a16="http://schemas.microsoft.com/office/drawing/2014/main" val="4195531285"/>
                  </a:ext>
                </a:extLst>
              </a:tr>
            </a:tbl>
          </a:graphicData>
        </a:graphic>
      </p:graphicFrame>
      <p:pic>
        <p:nvPicPr>
          <p:cNvPr id="6" name="Picture 5">
            <a:extLst>
              <a:ext uri="{FF2B5EF4-FFF2-40B4-BE49-F238E27FC236}">
                <a16:creationId xmlns:a16="http://schemas.microsoft.com/office/drawing/2014/main" id="{71873D9F-EC25-FB56-D726-2ADD20D2A0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245" y="3125930"/>
            <a:ext cx="11475027" cy="3617770"/>
          </a:xfrm>
          <a:prstGeom prst="rect">
            <a:avLst/>
          </a:prstGeom>
        </p:spPr>
      </p:pic>
    </p:spTree>
    <p:extLst>
      <p:ext uri="{BB962C8B-B14F-4D97-AF65-F5344CB8AC3E}">
        <p14:creationId xmlns:p14="http://schemas.microsoft.com/office/powerpoint/2010/main" val="94559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24D6-72A1-6D11-DF5E-C8731A313034}"/>
              </a:ext>
            </a:extLst>
          </p:cNvPr>
          <p:cNvSpPr>
            <a:spLocks noGrp="1"/>
          </p:cNvSpPr>
          <p:nvPr>
            <p:ph type="title"/>
          </p:nvPr>
        </p:nvSpPr>
        <p:spPr>
          <a:xfrm>
            <a:off x="747251" y="0"/>
            <a:ext cx="10515600" cy="1325563"/>
          </a:xfrm>
        </p:spPr>
        <p:txBody>
          <a:bodyPr/>
          <a:lstStyle/>
          <a:p>
            <a:r>
              <a:rPr lang="en-IN" b="1" dirty="0"/>
              <a:t>Dam Management Controversy</a:t>
            </a:r>
          </a:p>
        </p:txBody>
      </p:sp>
      <p:sp>
        <p:nvSpPr>
          <p:cNvPr id="3" name="Content Placeholder 2">
            <a:extLst>
              <a:ext uri="{FF2B5EF4-FFF2-40B4-BE49-F238E27FC236}">
                <a16:creationId xmlns:a16="http://schemas.microsoft.com/office/drawing/2014/main" id="{2A0865C5-BF1F-020D-CEFA-6AA250615468}"/>
              </a:ext>
            </a:extLst>
          </p:cNvPr>
          <p:cNvSpPr>
            <a:spLocks noGrp="1"/>
          </p:cNvSpPr>
          <p:nvPr>
            <p:ph idx="1"/>
          </p:nvPr>
        </p:nvSpPr>
        <p:spPr>
          <a:xfrm>
            <a:off x="838200" y="1825625"/>
            <a:ext cx="10515600" cy="4201549"/>
          </a:xfrm>
        </p:spPr>
        <p:txBody>
          <a:bodyPr>
            <a:normAutofit/>
          </a:bodyPr>
          <a:lstStyle/>
          <a:p>
            <a:pPr marL="0" indent="0" algn="just">
              <a:buNone/>
            </a:pPr>
            <a:r>
              <a:rPr lang="en-US" dirty="0">
                <a:solidFill>
                  <a:schemeClr val="bg1">
                    <a:lumMod val="95000"/>
                  </a:schemeClr>
                </a:solidFill>
              </a:rPr>
              <a:t>The Idukki Dam, Kerala’s largest arch dam, became a focal point of controversy during the floods. Despite receiving warnings of heavy rainfall and rising water levels, the dam's reservoir was allowed to fill up to almost full capacity. On August 8, 2018, for the first time in 26 years, all five shutters of the dam were opened to release water. This sudden release, combined with heavy rainfall, significantly worsened flooding in downstream areas such as Ernakulam and Alappuzha, submerging villages and causing widespread damage. Critics argued that if the dam had been managed more proactively, releasing water gradually in advance, the flood's severity could have been reduced.</a:t>
            </a:r>
            <a:endParaRPr lang="en-IN" dirty="0">
              <a:solidFill>
                <a:schemeClr val="bg1">
                  <a:lumMod val="95000"/>
                </a:schemeClr>
              </a:solidFill>
            </a:endParaRPr>
          </a:p>
        </p:txBody>
      </p:sp>
    </p:spTree>
    <p:extLst>
      <p:ext uri="{BB962C8B-B14F-4D97-AF65-F5344CB8AC3E}">
        <p14:creationId xmlns:p14="http://schemas.microsoft.com/office/powerpoint/2010/main" val="4282214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97D47-D08B-F983-A9A0-092E5C9316CE}"/>
              </a:ext>
            </a:extLst>
          </p:cNvPr>
          <p:cNvSpPr>
            <a:spLocks noGrp="1"/>
          </p:cNvSpPr>
          <p:nvPr>
            <p:ph type="title"/>
          </p:nvPr>
        </p:nvSpPr>
        <p:spPr/>
        <p:txBody>
          <a:bodyPr/>
          <a:lstStyle/>
          <a:p>
            <a:r>
              <a:rPr lang="en-IN" dirty="0"/>
              <a:t>Humanitarian crisis</a:t>
            </a:r>
          </a:p>
        </p:txBody>
      </p:sp>
      <p:sp>
        <p:nvSpPr>
          <p:cNvPr id="3" name="Content Placeholder 2">
            <a:extLst>
              <a:ext uri="{FF2B5EF4-FFF2-40B4-BE49-F238E27FC236}">
                <a16:creationId xmlns:a16="http://schemas.microsoft.com/office/drawing/2014/main" id="{9E38D62A-D648-7E47-F900-09B611AFFC6D}"/>
              </a:ext>
            </a:extLst>
          </p:cNvPr>
          <p:cNvSpPr>
            <a:spLocks noGrp="1"/>
          </p:cNvSpPr>
          <p:nvPr>
            <p:ph idx="1"/>
          </p:nvPr>
        </p:nvSpPr>
        <p:spPr/>
        <p:txBody>
          <a:bodyPr>
            <a:normAutofit fontScale="92500"/>
          </a:bodyPr>
          <a:lstStyle/>
          <a:p>
            <a:pPr marL="0" indent="0">
              <a:buNone/>
            </a:pPr>
            <a:r>
              <a:rPr lang="en-US" dirty="0"/>
              <a:t>The 2018 Kerala floods resulted in a major humanitarian crisis, displacing over 1.4 million people and leaving them in need of urgent aid. Thousands sought refuge in overcrowded relief camps, with many losing their homes, belongings, and livelihoods. The immediate challenges included providing food, clean water, sanitation, and healthcare to the flood victims. The risk of disease outbreaks, such as leptospirosis and cholera, loomed large due to the contaminated water and unsanitary conditions. The Kerala government, along with various NGOs and volunteers, coordinated relief efforts, but the scale of the disaster overwhelmed available resources. In addition to physical hardships, the emotional toll was immense, with many people suffering from trauma and anxiety after losing loved ones and their means of living.</a:t>
            </a:r>
            <a:endParaRPr lang="en-IN" dirty="0"/>
          </a:p>
        </p:txBody>
      </p:sp>
    </p:spTree>
    <p:extLst>
      <p:ext uri="{BB962C8B-B14F-4D97-AF65-F5344CB8AC3E}">
        <p14:creationId xmlns:p14="http://schemas.microsoft.com/office/powerpoint/2010/main" val="769521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821E65-1FD2-3BC1-F543-50DB52CAA850}"/>
              </a:ext>
            </a:extLst>
          </p:cNvPr>
          <p:cNvPicPr>
            <a:picLocks noChangeAspect="1"/>
          </p:cNvPicPr>
          <p:nvPr/>
        </p:nvPicPr>
        <p:blipFill>
          <a:blip r:embed="rId2"/>
          <a:stretch>
            <a:fillRect/>
          </a:stretch>
        </p:blipFill>
        <p:spPr>
          <a:xfrm>
            <a:off x="1150374" y="760769"/>
            <a:ext cx="4053964" cy="1972598"/>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B1AC454A-CD8F-9615-6B56-5A3C27DED179}"/>
              </a:ext>
            </a:extLst>
          </p:cNvPr>
          <p:cNvPicPr>
            <a:picLocks noChangeAspect="1"/>
          </p:cNvPicPr>
          <p:nvPr/>
        </p:nvPicPr>
        <p:blipFill>
          <a:blip r:embed="rId3"/>
          <a:stretch>
            <a:fillRect/>
          </a:stretch>
        </p:blipFill>
        <p:spPr>
          <a:xfrm>
            <a:off x="6508956" y="829595"/>
            <a:ext cx="4122790" cy="1972598"/>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409C132E-0CE3-2A7A-07A7-96F480529B71}"/>
              </a:ext>
            </a:extLst>
          </p:cNvPr>
          <p:cNvPicPr>
            <a:picLocks noChangeAspect="1"/>
          </p:cNvPicPr>
          <p:nvPr/>
        </p:nvPicPr>
        <p:blipFill>
          <a:blip r:embed="rId4"/>
          <a:stretch>
            <a:fillRect/>
          </a:stretch>
        </p:blipFill>
        <p:spPr>
          <a:xfrm>
            <a:off x="1042219" y="3700616"/>
            <a:ext cx="4053964" cy="1854610"/>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E4E00E93-0EDD-600E-BE0D-8ECD25542C4E}"/>
              </a:ext>
            </a:extLst>
          </p:cNvPr>
          <p:cNvPicPr>
            <a:picLocks noChangeAspect="1"/>
          </p:cNvPicPr>
          <p:nvPr/>
        </p:nvPicPr>
        <p:blipFill>
          <a:blip r:embed="rId5"/>
          <a:stretch>
            <a:fillRect/>
          </a:stretch>
        </p:blipFill>
        <p:spPr>
          <a:xfrm>
            <a:off x="6508956" y="3303639"/>
            <a:ext cx="4304149" cy="225158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9821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400E5-5583-BB5C-5EFE-6C1E76B95501}"/>
              </a:ext>
            </a:extLst>
          </p:cNvPr>
          <p:cNvSpPr>
            <a:spLocks noGrp="1"/>
          </p:cNvSpPr>
          <p:nvPr>
            <p:ph type="title"/>
          </p:nvPr>
        </p:nvSpPr>
        <p:spPr/>
        <p:txBody>
          <a:bodyPr>
            <a:normAutofit/>
          </a:bodyPr>
          <a:lstStyle/>
          <a:p>
            <a:r>
              <a:rPr lang="en-US" sz="4400" dirty="0">
                <a:latin typeface="Barlow" pitchFamily="34" charset="0"/>
                <a:ea typeface="Barlow" pitchFamily="34" charset="-122"/>
                <a:cs typeface="Barlow" pitchFamily="34" charset="-120"/>
              </a:rPr>
              <a:t>Rescue and Relief Efforts</a:t>
            </a:r>
            <a:br>
              <a:rPr lang="en-US" sz="4400" dirty="0"/>
            </a:br>
            <a:endParaRPr lang="en-IN" dirty="0"/>
          </a:p>
        </p:txBody>
      </p:sp>
      <p:sp>
        <p:nvSpPr>
          <p:cNvPr id="3" name="Content Placeholder 2">
            <a:extLst>
              <a:ext uri="{FF2B5EF4-FFF2-40B4-BE49-F238E27FC236}">
                <a16:creationId xmlns:a16="http://schemas.microsoft.com/office/drawing/2014/main" id="{CEADCBE3-8CD9-6269-F99B-186C4FF320CE}"/>
              </a:ext>
            </a:extLst>
          </p:cNvPr>
          <p:cNvSpPr>
            <a:spLocks noGrp="1"/>
          </p:cNvSpPr>
          <p:nvPr>
            <p:ph idx="1"/>
          </p:nvPr>
        </p:nvSpPr>
        <p:spPr>
          <a:xfrm>
            <a:off x="838200" y="1451999"/>
            <a:ext cx="8689258" cy="4693162"/>
          </a:xfrm>
        </p:spPr>
        <p:txBody>
          <a:bodyPr>
            <a:normAutofit fontScale="92500" lnSpcReduction="10000"/>
          </a:bodyPr>
          <a:lstStyle/>
          <a:p>
            <a:pPr marL="0" indent="0">
              <a:buNone/>
            </a:pPr>
            <a:r>
              <a:rPr lang="en-US" sz="2800" b="1" dirty="0">
                <a:latin typeface="Barlow" pitchFamily="34" charset="0"/>
                <a:ea typeface="Barlow" pitchFamily="34" charset="-122"/>
                <a:cs typeface="Barlow" pitchFamily="34" charset="-120"/>
              </a:rPr>
              <a:t>Initial Response</a:t>
            </a:r>
            <a:endParaRPr lang="en-US" sz="2800" b="1" dirty="0"/>
          </a:p>
          <a:p>
            <a:pPr marL="0" indent="0">
              <a:buNone/>
            </a:pPr>
            <a:r>
              <a:rPr lang="en-US" sz="2600" dirty="0">
                <a:latin typeface="Barlow" pitchFamily="34" charset="0"/>
                <a:ea typeface="Barlow" pitchFamily="34" charset="-122"/>
                <a:cs typeface="Barlow" pitchFamily="34" charset="-120"/>
              </a:rPr>
              <a:t>The Indian government deployed the military, NDRF, SDMA and national disaster response forces to rescue and assist affected people.</a:t>
            </a:r>
          </a:p>
          <a:p>
            <a:pPr marL="0" indent="0">
              <a:buNone/>
            </a:pPr>
            <a:endParaRPr lang="en-US" dirty="0">
              <a:latin typeface="Barlow" pitchFamily="34" charset="0"/>
            </a:endParaRPr>
          </a:p>
          <a:p>
            <a:pPr marL="0" indent="0">
              <a:buNone/>
            </a:pPr>
            <a:r>
              <a:rPr lang="en-US" sz="2800" b="1" dirty="0">
                <a:latin typeface="Barlow" pitchFamily="34" charset="0"/>
                <a:ea typeface="Barlow" pitchFamily="34" charset="-122"/>
                <a:cs typeface="Barlow" pitchFamily="34" charset="-120"/>
              </a:rPr>
              <a:t>NGOs and Volunteers</a:t>
            </a:r>
            <a:endParaRPr lang="en-US" sz="2800" b="1" dirty="0"/>
          </a:p>
          <a:p>
            <a:pPr marL="0" indent="0">
              <a:buNone/>
            </a:pPr>
            <a:r>
              <a:rPr lang="en-US" sz="2600" dirty="0">
                <a:latin typeface="Barlow" pitchFamily="34" charset="0"/>
                <a:ea typeface="Barlow" pitchFamily="34" charset="-122"/>
                <a:cs typeface="Barlow" pitchFamily="34" charset="-120"/>
              </a:rPr>
              <a:t>Numerous NGOs and volunteers from across the country and the world contributed to relief efforts.</a:t>
            </a:r>
            <a:endParaRPr lang="en-US" sz="2600" dirty="0"/>
          </a:p>
          <a:p>
            <a:pPr marL="0" indent="0">
              <a:buNone/>
            </a:pPr>
            <a:endParaRPr lang="en-US" sz="2800" dirty="0"/>
          </a:p>
          <a:p>
            <a:pPr marL="0" indent="0">
              <a:buNone/>
            </a:pPr>
            <a:r>
              <a:rPr lang="en-US" sz="2800" b="1" dirty="0">
                <a:latin typeface="Barlow" pitchFamily="34" charset="0"/>
                <a:ea typeface="Barlow" pitchFamily="34" charset="-122"/>
                <a:cs typeface="Barlow" pitchFamily="34" charset="-120"/>
              </a:rPr>
              <a:t>Community Support</a:t>
            </a:r>
            <a:endParaRPr lang="en-US" sz="2800" b="1" dirty="0"/>
          </a:p>
          <a:p>
            <a:pPr marL="0" indent="0">
              <a:buNone/>
            </a:pPr>
            <a:r>
              <a:rPr lang="en-US" sz="2800" dirty="0">
                <a:latin typeface="Barlow" pitchFamily="34" charset="0"/>
                <a:ea typeface="Barlow" pitchFamily="34" charset="-122"/>
                <a:cs typeface="Barlow" pitchFamily="34" charset="-120"/>
              </a:rPr>
              <a:t>Local communities organized themselves to help each other, providing food, shelter, and medical aid.</a:t>
            </a:r>
            <a:endParaRPr lang="en-US" sz="2800" dirty="0"/>
          </a:p>
          <a:p>
            <a:pPr marL="0" indent="0">
              <a:buNone/>
            </a:pPr>
            <a:endParaRPr lang="en-US" sz="2800" dirty="0"/>
          </a:p>
          <a:p>
            <a:endParaRPr lang="en-IN" dirty="0"/>
          </a:p>
        </p:txBody>
      </p:sp>
    </p:spTree>
    <p:extLst>
      <p:ext uri="{BB962C8B-B14F-4D97-AF65-F5344CB8AC3E}">
        <p14:creationId xmlns:p14="http://schemas.microsoft.com/office/powerpoint/2010/main" val="3522926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616EEC-5A05-3D42-365C-85FC2FDA4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490" y="2866903"/>
            <a:ext cx="2871019" cy="1448289"/>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EB003ACC-805D-1035-7C8C-2A03BDFE90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0848" y="314076"/>
            <a:ext cx="3519317" cy="1727915"/>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B566EA27-DEA9-2814-C02F-7498ED1D97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1757" y="4816010"/>
            <a:ext cx="3212345" cy="1714261"/>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202906D7-2BDA-784C-C015-008ED3A54BFC}"/>
              </a:ext>
            </a:extLst>
          </p:cNvPr>
          <p:cNvPicPr>
            <a:picLocks noChangeAspect="1"/>
          </p:cNvPicPr>
          <p:nvPr/>
        </p:nvPicPr>
        <p:blipFill>
          <a:blip r:embed="rId5"/>
          <a:stretch>
            <a:fillRect/>
          </a:stretch>
        </p:blipFill>
        <p:spPr>
          <a:xfrm>
            <a:off x="1435510" y="4682308"/>
            <a:ext cx="3890271" cy="2008970"/>
          </a:xfrm>
          <a:prstGeom prst="rect">
            <a:avLst/>
          </a:prstGeom>
        </p:spPr>
      </p:pic>
      <p:pic>
        <p:nvPicPr>
          <p:cNvPr id="3" name="Picture 2">
            <a:extLst>
              <a:ext uri="{FF2B5EF4-FFF2-40B4-BE49-F238E27FC236}">
                <a16:creationId xmlns:a16="http://schemas.microsoft.com/office/drawing/2014/main" id="{BEF0471A-515F-FC47-7A63-F6E93922AB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0800000" flipV="1">
            <a:off x="8247152" y="2783729"/>
            <a:ext cx="3481614" cy="1531463"/>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3C71452A-CBFC-9456-480D-88F504BE2B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8062" y="331529"/>
            <a:ext cx="3224775" cy="1693007"/>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6D2CBC93-C1B7-3E6D-C67C-EE68BD9C480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3389" y="2707157"/>
            <a:ext cx="3431458" cy="160803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5801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43306-C8F3-9811-C69B-CFA53D5F28F5}"/>
              </a:ext>
            </a:extLst>
          </p:cNvPr>
          <p:cNvSpPr>
            <a:spLocks noGrp="1"/>
          </p:cNvSpPr>
          <p:nvPr>
            <p:ph type="title"/>
          </p:nvPr>
        </p:nvSpPr>
        <p:spPr/>
        <p:txBody>
          <a:bodyPr>
            <a:normAutofit/>
          </a:bodyPr>
          <a:lstStyle/>
          <a:p>
            <a:r>
              <a:rPr lang="en-IN" sz="4800" b="1" dirty="0"/>
              <a:t>Impact on Floods</a:t>
            </a:r>
          </a:p>
        </p:txBody>
      </p:sp>
      <p:sp>
        <p:nvSpPr>
          <p:cNvPr id="3" name="Content Placeholder 2">
            <a:extLst>
              <a:ext uri="{FF2B5EF4-FFF2-40B4-BE49-F238E27FC236}">
                <a16:creationId xmlns:a16="http://schemas.microsoft.com/office/drawing/2014/main" id="{C9072348-DBBC-844A-464F-C3A49F0E61B9}"/>
              </a:ext>
            </a:extLst>
          </p:cNvPr>
          <p:cNvSpPr>
            <a:spLocks noGrp="1"/>
          </p:cNvSpPr>
          <p:nvPr>
            <p:ph idx="1"/>
          </p:nvPr>
        </p:nvSpPr>
        <p:spPr>
          <a:xfrm>
            <a:off x="838201" y="1825625"/>
            <a:ext cx="9810134" cy="4351338"/>
          </a:xfrm>
        </p:spPr>
        <p:txBody>
          <a:bodyPr/>
          <a:lstStyle/>
          <a:p>
            <a:r>
              <a:rPr lang="en-US" dirty="0"/>
              <a:t>Human Loss</a:t>
            </a:r>
          </a:p>
          <a:p>
            <a:r>
              <a:rPr lang="en-US" dirty="0"/>
              <a:t>Property Loss</a:t>
            </a:r>
          </a:p>
          <a:p>
            <a:r>
              <a:rPr lang="en-US" dirty="0"/>
              <a:t>Affects the Major Roads Disruption of Air/Train/Bus services</a:t>
            </a:r>
          </a:p>
          <a:p>
            <a:r>
              <a:rPr lang="en-US" dirty="0"/>
              <a:t> Spread of Water-borne Communicable</a:t>
            </a:r>
          </a:p>
          <a:p>
            <a:r>
              <a:rPr lang="en-US" dirty="0"/>
              <a:t>Communication Breakdown</a:t>
            </a:r>
          </a:p>
          <a:p>
            <a:r>
              <a:rPr lang="en-US" dirty="0"/>
              <a:t>Electricity Supply Cut off</a:t>
            </a:r>
          </a:p>
          <a:p>
            <a:r>
              <a:rPr lang="en-US" dirty="0"/>
              <a:t>Economic and </a:t>
            </a:r>
            <a:r>
              <a:rPr lang="en-US" dirty="0" err="1"/>
              <a:t>SocialDisruption</a:t>
            </a:r>
            <a:endParaRPr lang="en-US" dirty="0"/>
          </a:p>
          <a:p>
            <a:r>
              <a:rPr lang="en-US" dirty="0"/>
              <a:t>The tourist sectors got affected</a:t>
            </a:r>
            <a:endParaRPr lang="en-IN" dirty="0"/>
          </a:p>
        </p:txBody>
      </p:sp>
    </p:spTree>
    <p:extLst>
      <p:ext uri="{BB962C8B-B14F-4D97-AF65-F5344CB8AC3E}">
        <p14:creationId xmlns:p14="http://schemas.microsoft.com/office/powerpoint/2010/main" val="386585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49F1E7-25A4-5942-E465-FBA4B3D3EB66}"/>
              </a:ext>
            </a:extLst>
          </p:cNvPr>
          <p:cNvPicPr>
            <a:picLocks noChangeAspect="1"/>
          </p:cNvPicPr>
          <p:nvPr/>
        </p:nvPicPr>
        <p:blipFill>
          <a:blip r:embed="rId2"/>
          <a:stretch>
            <a:fillRect/>
          </a:stretch>
        </p:blipFill>
        <p:spPr>
          <a:xfrm>
            <a:off x="351514" y="340772"/>
            <a:ext cx="3392170" cy="2566878"/>
          </a:xfrm>
          <a:prstGeom prst="rect">
            <a:avLst/>
          </a:prstGeom>
          <a:ln>
            <a:noFill/>
          </a:ln>
          <a:effectLst>
            <a:softEdge rad="112500"/>
          </a:effectLst>
        </p:spPr>
      </p:pic>
      <p:pic>
        <p:nvPicPr>
          <p:cNvPr id="5" name="Picture 4">
            <a:extLst>
              <a:ext uri="{FF2B5EF4-FFF2-40B4-BE49-F238E27FC236}">
                <a16:creationId xmlns:a16="http://schemas.microsoft.com/office/drawing/2014/main" id="{864C0ECE-F71D-2B6F-ABC2-454A9A9117E9}"/>
              </a:ext>
            </a:extLst>
          </p:cNvPr>
          <p:cNvPicPr>
            <a:picLocks noChangeAspect="1"/>
          </p:cNvPicPr>
          <p:nvPr/>
        </p:nvPicPr>
        <p:blipFill>
          <a:blip r:embed="rId3"/>
          <a:stretch>
            <a:fillRect/>
          </a:stretch>
        </p:blipFill>
        <p:spPr>
          <a:xfrm>
            <a:off x="8164257" y="229921"/>
            <a:ext cx="3567655" cy="2788581"/>
          </a:xfrm>
          <a:prstGeom prst="rect">
            <a:avLst/>
          </a:prstGeom>
          <a:ln>
            <a:noFill/>
          </a:ln>
          <a:effectLst>
            <a:softEdge rad="112500"/>
          </a:effectLst>
        </p:spPr>
      </p:pic>
      <p:pic>
        <p:nvPicPr>
          <p:cNvPr id="6" name="Picture 5">
            <a:extLst>
              <a:ext uri="{FF2B5EF4-FFF2-40B4-BE49-F238E27FC236}">
                <a16:creationId xmlns:a16="http://schemas.microsoft.com/office/drawing/2014/main" id="{65F6133D-7DB1-7849-E3E1-13381C51E434}"/>
              </a:ext>
            </a:extLst>
          </p:cNvPr>
          <p:cNvPicPr>
            <a:picLocks noChangeAspect="1"/>
          </p:cNvPicPr>
          <p:nvPr/>
        </p:nvPicPr>
        <p:blipFill>
          <a:blip r:embed="rId4"/>
          <a:stretch>
            <a:fillRect/>
          </a:stretch>
        </p:blipFill>
        <p:spPr>
          <a:xfrm>
            <a:off x="4072010" y="3450498"/>
            <a:ext cx="3695474" cy="3058458"/>
          </a:xfrm>
          <a:prstGeom prst="rect">
            <a:avLst/>
          </a:prstGeom>
          <a:ln>
            <a:noFill/>
          </a:ln>
          <a:effectLst>
            <a:softEdge rad="112500"/>
          </a:effectLst>
        </p:spPr>
      </p:pic>
      <p:pic>
        <p:nvPicPr>
          <p:cNvPr id="2" name="Picture 1">
            <a:extLst>
              <a:ext uri="{FF2B5EF4-FFF2-40B4-BE49-F238E27FC236}">
                <a16:creationId xmlns:a16="http://schemas.microsoft.com/office/drawing/2014/main" id="{6D0B49A2-8502-1D81-BE9D-613AEB0449BA}"/>
              </a:ext>
            </a:extLst>
          </p:cNvPr>
          <p:cNvPicPr>
            <a:picLocks noChangeAspect="1"/>
          </p:cNvPicPr>
          <p:nvPr/>
        </p:nvPicPr>
        <p:blipFill>
          <a:blip r:embed="rId5"/>
          <a:stretch>
            <a:fillRect/>
          </a:stretch>
        </p:blipFill>
        <p:spPr>
          <a:xfrm>
            <a:off x="8196621" y="3336820"/>
            <a:ext cx="3567655" cy="3172136"/>
          </a:xfrm>
          <a:prstGeom prst="rect">
            <a:avLst/>
          </a:prstGeom>
          <a:ln>
            <a:noFill/>
          </a:ln>
          <a:effectLst>
            <a:softEdge rad="112500"/>
          </a:effectLst>
        </p:spPr>
      </p:pic>
      <p:pic>
        <p:nvPicPr>
          <p:cNvPr id="3" name="Picture 2">
            <a:extLst>
              <a:ext uri="{FF2B5EF4-FFF2-40B4-BE49-F238E27FC236}">
                <a16:creationId xmlns:a16="http://schemas.microsoft.com/office/drawing/2014/main" id="{A3579AB4-9D02-ED19-6280-044CB5CAE7EC}"/>
              </a:ext>
            </a:extLst>
          </p:cNvPr>
          <p:cNvPicPr>
            <a:picLocks noChangeAspect="1"/>
          </p:cNvPicPr>
          <p:nvPr/>
        </p:nvPicPr>
        <p:blipFill>
          <a:blip r:embed="rId6"/>
          <a:stretch>
            <a:fillRect/>
          </a:stretch>
        </p:blipFill>
        <p:spPr>
          <a:xfrm>
            <a:off x="427724" y="3451371"/>
            <a:ext cx="3239750" cy="2955004"/>
          </a:xfrm>
          <a:prstGeom prst="rect">
            <a:avLst/>
          </a:prstGeom>
          <a:ln>
            <a:noFill/>
          </a:ln>
          <a:effectLst>
            <a:softEdge rad="112500"/>
          </a:effectLst>
        </p:spPr>
      </p:pic>
      <p:pic>
        <p:nvPicPr>
          <p:cNvPr id="7" name="Picture 6">
            <a:extLst>
              <a:ext uri="{FF2B5EF4-FFF2-40B4-BE49-F238E27FC236}">
                <a16:creationId xmlns:a16="http://schemas.microsoft.com/office/drawing/2014/main" id="{549E11CC-5E5D-E916-769B-2DA4B6D74067}"/>
              </a:ext>
            </a:extLst>
          </p:cNvPr>
          <p:cNvPicPr>
            <a:picLocks noChangeAspect="1"/>
          </p:cNvPicPr>
          <p:nvPr/>
        </p:nvPicPr>
        <p:blipFill>
          <a:blip r:embed="rId7"/>
          <a:stretch>
            <a:fillRect/>
          </a:stretch>
        </p:blipFill>
        <p:spPr>
          <a:xfrm>
            <a:off x="4171325" y="349044"/>
            <a:ext cx="3496843" cy="2719109"/>
          </a:xfrm>
          <a:prstGeom prst="rect">
            <a:avLst/>
          </a:prstGeom>
          <a:ln>
            <a:noFill/>
          </a:ln>
          <a:effectLst>
            <a:softEdge rad="112500"/>
          </a:effectLst>
        </p:spPr>
      </p:pic>
    </p:spTree>
    <p:extLst>
      <p:ext uri="{BB962C8B-B14F-4D97-AF65-F5344CB8AC3E}">
        <p14:creationId xmlns:p14="http://schemas.microsoft.com/office/powerpoint/2010/main" val="3566878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8442-F90C-E19F-789E-144EBDFC95E4}"/>
              </a:ext>
            </a:extLst>
          </p:cNvPr>
          <p:cNvSpPr>
            <a:spLocks noGrp="1"/>
          </p:cNvSpPr>
          <p:nvPr>
            <p:ph type="title"/>
          </p:nvPr>
        </p:nvSpPr>
        <p:spPr/>
        <p:txBody>
          <a:bodyPr/>
          <a:lstStyle/>
          <a:p>
            <a:r>
              <a:rPr lang="en-US" b="1" dirty="0"/>
              <a:t>F</a:t>
            </a:r>
            <a:r>
              <a:rPr lang="en-IN" b="1" dirty="0"/>
              <a:t>UNDS &amp; DONATION</a:t>
            </a:r>
          </a:p>
        </p:txBody>
      </p:sp>
      <p:sp>
        <p:nvSpPr>
          <p:cNvPr id="3" name="Content Placeholder 2">
            <a:extLst>
              <a:ext uri="{FF2B5EF4-FFF2-40B4-BE49-F238E27FC236}">
                <a16:creationId xmlns:a16="http://schemas.microsoft.com/office/drawing/2014/main" id="{4C4A57AB-31F7-20F5-0E04-B963CFD1040A}"/>
              </a:ext>
            </a:extLst>
          </p:cNvPr>
          <p:cNvSpPr>
            <a:spLocks noGrp="1"/>
          </p:cNvSpPr>
          <p:nvPr>
            <p:ph idx="1"/>
          </p:nvPr>
        </p:nvSpPr>
        <p:spPr>
          <a:xfrm>
            <a:off x="1310148" y="1995948"/>
            <a:ext cx="5749414" cy="3293807"/>
          </a:xfrm>
        </p:spPr>
        <p:txBody>
          <a:bodyPr>
            <a:normAutofit lnSpcReduction="10000"/>
          </a:bodyPr>
          <a:lstStyle/>
          <a:p>
            <a:pPr algn="just"/>
            <a:r>
              <a:rPr lang="en-US" i="0" dirty="0">
                <a:solidFill>
                  <a:srgbClr val="040C28"/>
                </a:solidFill>
                <a:effectLst/>
                <a:latin typeface="Google Sans"/>
              </a:rPr>
              <a:t>Chief </a:t>
            </a:r>
            <a:r>
              <a:rPr lang="en-US" dirty="0">
                <a:solidFill>
                  <a:srgbClr val="040C28"/>
                </a:solidFill>
                <a:latin typeface="Google Sans"/>
              </a:rPr>
              <a:t>Minister disaster Relief funds</a:t>
            </a:r>
          </a:p>
          <a:p>
            <a:pPr algn="just"/>
            <a:r>
              <a:rPr lang="en-US" dirty="0">
                <a:solidFill>
                  <a:srgbClr val="040C28"/>
                </a:solidFill>
                <a:latin typeface="Google Sans"/>
              </a:rPr>
              <a:t>Prime Minister Narendra Modi</a:t>
            </a:r>
          </a:p>
          <a:p>
            <a:pPr algn="just"/>
            <a:r>
              <a:rPr lang="en-US" i="0" dirty="0" err="1">
                <a:solidFill>
                  <a:srgbClr val="040C28"/>
                </a:solidFill>
                <a:effectLst/>
                <a:latin typeface="Google Sans"/>
              </a:rPr>
              <a:t>Celebr</a:t>
            </a:r>
            <a:r>
              <a:rPr lang="en-US" dirty="0" err="1">
                <a:solidFill>
                  <a:srgbClr val="040C28"/>
                </a:solidFill>
                <a:latin typeface="Google Sans"/>
              </a:rPr>
              <a:t>aties</a:t>
            </a:r>
            <a:r>
              <a:rPr lang="en-US" dirty="0">
                <a:solidFill>
                  <a:srgbClr val="040C28"/>
                </a:solidFill>
                <a:latin typeface="Google Sans"/>
              </a:rPr>
              <a:t> from other industry</a:t>
            </a:r>
          </a:p>
          <a:p>
            <a:pPr algn="just"/>
            <a:r>
              <a:rPr lang="en-US" i="0" dirty="0">
                <a:solidFill>
                  <a:srgbClr val="040C28"/>
                </a:solidFill>
                <a:effectLst/>
                <a:latin typeface="Google Sans"/>
              </a:rPr>
              <a:t>NRI people</a:t>
            </a:r>
          </a:p>
          <a:p>
            <a:pPr algn="just"/>
            <a:r>
              <a:rPr lang="en-US" dirty="0">
                <a:solidFill>
                  <a:srgbClr val="040C28"/>
                </a:solidFill>
                <a:latin typeface="Google Sans"/>
              </a:rPr>
              <a:t>Various political parties collected money</a:t>
            </a:r>
          </a:p>
          <a:p>
            <a:pPr algn="just"/>
            <a:r>
              <a:rPr lang="en-US" i="0" dirty="0">
                <a:solidFill>
                  <a:srgbClr val="040C28"/>
                </a:solidFill>
                <a:effectLst/>
                <a:latin typeface="Google Sans"/>
              </a:rPr>
              <a:t>Central Government</a:t>
            </a:r>
          </a:p>
          <a:p>
            <a:pPr marL="0" indent="0">
              <a:buNone/>
            </a:pPr>
            <a:endParaRPr lang="en-IN" sz="2400" b="1" i="0" dirty="0">
              <a:effectLst/>
              <a:latin typeface="ff0"/>
            </a:endParaRPr>
          </a:p>
          <a:p>
            <a:pPr marL="0" indent="0">
              <a:buNone/>
            </a:pPr>
            <a:endParaRPr lang="en-US" sz="3600" b="1" i="0" dirty="0">
              <a:effectLst/>
              <a:latin typeface="Google Sans"/>
            </a:endParaRPr>
          </a:p>
          <a:p>
            <a:pPr marL="0" indent="0">
              <a:buNone/>
            </a:pPr>
            <a:endParaRPr lang="en-IN" sz="2600" b="0" i="0" dirty="0">
              <a:solidFill>
                <a:srgbClr val="040C28"/>
              </a:solidFill>
              <a:effectLst/>
              <a:latin typeface="Google Sans"/>
            </a:endParaRPr>
          </a:p>
          <a:p>
            <a:pPr marL="0" indent="0">
              <a:buNone/>
            </a:pPr>
            <a:endParaRPr lang="en-IN" dirty="0">
              <a:solidFill>
                <a:srgbClr val="040C28"/>
              </a:solidFill>
              <a:latin typeface="Google Sans"/>
            </a:endParaRPr>
          </a:p>
        </p:txBody>
      </p:sp>
    </p:spTree>
    <p:extLst>
      <p:ext uri="{BB962C8B-B14F-4D97-AF65-F5344CB8AC3E}">
        <p14:creationId xmlns:p14="http://schemas.microsoft.com/office/powerpoint/2010/main" val="90752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B05799-4381-AE2B-D2E9-D019E4210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317" y="542002"/>
            <a:ext cx="8672052" cy="577399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854617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BCB6A-D283-3AB5-6DB4-2C7A8421F032}"/>
              </a:ext>
            </a:extLst>
          </p:cNvPr>
          <p:cNvSpPr>
            <a:spLocks noGrp="1"/>
          </p:cNvSpPr>
          <p:nvPr>
            <p:ph type="title"/>
          </p:nvPr>
        </p:nvSpPr>
        <p:spPr/>
        <p:txBody>
          <a:bodyPr/>
          <a:lstStyle/>
          <a:p>
            <a:pPr algn="ctr"/>
            <a:r>
              <a:rPr lang="en-IN" b="1" dirty="0"/>
              <a:t>CONCLUSION</a:t>
            </a:r>
          </a:p>
        </p:txBody>
      </p:sp>
      <p:sp>
        <p:nvSpPr>
          <p:cNvPr id="3" name="Content Placeholder 2">
            <a:extLst>
              <a:ext uri="{FF2B5EF4-FFF2-40B4-BE49-F238E27FC236}">
                <a16:creationId xmlns:a16="http://schemas.microsoft.com/office/drawing/2014/main" id="{A14B49E2-CD23-F0C4-AA98-64ECBD5949E7}"/>
              </a:ext>
            </a:extLst>
          </p:cNvPr>
          <p:cNvSpPr>
            <a:spLocks noGrp="1"/>
          </p:cNvSpPr>
          <p:nvPr>
            <p:ph idx="1"/>
          </p:nvPr>
        </p:nvSpPr>
        <p:spPr>
          <a:xfrm>
            <a:off x="1032387" y="1520825"/>
            <a:ext cx="9999407" cy="4351338"/>
          </a:xfrm>
        </p:spPr>
        <p:txBody>
          <a:bodyPr/>
          <a:lstStyle/>
          <a:p>
            <a:pPr marL="0" indent="0" algn="just">
              <a:buNone/>
            </a:pPr>
            <a:r>
              <a:rPr lang="en-US" dirty="0"/>
              <a:t>The Kerala floods serve as a stark reminder of the devastating impact of natural disasters. The state's resilience, community spirit, and the collaborative efforts of various agencies were instrumental in mitigating the impact of the floods. </a:t>
            </a:r>
          </a:p>
          <a:p>
            <a:pPr marL="0" indent="0" algn="just">
              <a:buNone/>
            </a:pPr>
            <a:endParaRPr lang="en-US" dirty="0"/>
          </a:p>
          <a:p>
            <a:pPr marL="0" indent="0" algn="just">
              <a:buNone/>
            </a:pPr>
            <a:r>
              <a:rPr lang="en-US" dirty="0"/>
              <a:t>The lessons learned from this disaster will be crucial in shaping the state's future preparedness and response strategies to similar events.</a:t>
            </a:r>
            <a:endParaRPr lang="en-IN" dirty="0"/>
          </a:p>
        </p:txBody>
      </p:sp>
    </p:spTree>
    <p:extLst>
      <p:ext uri="{BB962C8B-B14F-4D97-AF65-F5344CB8AC3E}">
        <p14:creationId xmlns:p14="http://schemas.microsoft.com/office/powerpoint/2010/main" val="1468771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rgbClr val="00B05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202A-5033-BE4B-E211-6F86F298C9E8}"/>
              </a:ext>
            </a:extLst>
          </p:cNvPr>
          <p:cNvSpPr>
            <a:spLocks noGrp="1"/>
          </p:cNvSpPr>
          <p:nvPr>
            <p:ph type="title"/>
          </p:nvPr>
        </p:nvSpPr>
        <p:spPr>
          <a:xfrm>
            <a:off x="671052" y="2766218"/>
            <a:ext cx="10515600" cy="1325563"/>
          </a:xfrm>
        </p:spPr>
        <p:txBody>
          <a:bodyPr/>
          <a:lstStyle/>
          <a:p>
            <a:pPr algn="ctr"/>
            <a:r>
              <a:rPr lang="en-US" dirty="0">
                <a:latin typeface="Goudy Stout" panose="0202090407030B020401" pitchFamily="18" charset="0"/>
              </a:rPr>
              <a:t>Thank you :)</a:t>
            </a:r>
            <a:endParaRPr lang="en-IN" dirty="0">
              <a:latin typeface="Goudy Stout" panose="0202090407030B020401" pitchFamily="18" charset="0"/>
            </a:endParaRPr>
          </a:p>
        </p:txBody>
      </p:sp>
    </p:spTree>
    <p:extLst>
      <p:ext uri="{BB962C8B-B14F-4D97-AF65-F5344CB8AC3E}">
        <p14:creationId xmlns:p14="http://schemas.microsoft.com/office/powerpoint/2010/main" val="14769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660</TotalTime>
  <Words>786</Words>
  <Application>Microsoft Office PowerPoint</Application>
  <PresentationFormat>Widescreen</PresentationFormat>
  <Paragraphs>72</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Barlow</vt:lpstr>
      <vt:lpstr>Calibri</vt:lpstr>
      <vt:lpstr>Calibri Light</vt:lpstr>
      <vt:lpstr>ff0</vt:lpstr>
      <vt:lpstr>Gelasio</vt:lpstr>
      <vt:lpstr>Google Sans</vt:lpstr>
      <vt:lpstr>Goudy Stout</vt:lpstr>
      <vt:lpstr>Times New Roman</vt:lpstr>
      <vt:lpstr>Office Theme</vt:lpstr>
      <vt:lpstr>PowerPoint Presentation</vt:lpstr>
      <vt:lpstr>INTRODUCTION</vt:lpstr>
      <vt:lpstr>GEOGRAPHICAL VIEW </vt:lpstr>
      <vt:lpstr>TIME LINE OF FLOODS </vt:lpstr>
      <vt:lpstr>CAUSES OF FLOODS(Natural)</vt:lpstr>
      <vt:lpstr>PowerPoint Presentation</vt:lpstr>
      <vt:lpstr>Causes of the Floods (Man-Made) </vt:lpstr>
      <vt:lpstr>Rainfall Statistics </vt:lpstr>
      <vt:lpstr>Dam Management Controversy</vt:lpstr>
      <vt:lpstr>Humanitarian crisis</vt:lpstr>
      <vt:lpstr>PowerPoint Presentation</vt:lpstr>
      <vt:lpstr>Rescue and Relief Efforts </vt:lpstr>
      <vt:lpstr>PowerPoint Presentation</vt:lpstr>
      <vt:lpstr>Impact on Floods</vt:lpstr>
      <vt:lpstr>PowerPoint Presentation</vt:lpstr>
      <vt:lpstr>FUNDS &amp; DONATION</vt:lpstr>
      <vt:lpstr>PowerPoint Presentation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satheesh bandi</dc:creator>
  <cp:lastModifiedBy>Hari Vamsi</cp:lastModifiedBy>
  <cp:revision>7</cp:revision>
  <dcterms:created xsi:type="dcterms:W3CDTF">2024-09-24T13:21:33Z</dcterms:created>
  <dcterms:modified xsi:type="dcterms:W3CDTF">2024-09-30T08:10:12Z</dcterms:modified>
</cp:coreProperties>
</file>